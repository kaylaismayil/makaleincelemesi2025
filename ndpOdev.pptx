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2" r:id="rId1"/>
  </p:sldMasterIdLst>
  <p:notesMasterIdLst>
    <p:notesMasterId r:id="rId16"/>
  </p:notesMasterIdLst>
  <p:sldIdLst>
    <p:sldId id="256" r:id="rId2"/>
    <p:sldId id="257" r:id="rId3"/>
    <p:sldId id="258" r:id="rId4"/>
    <p:sldId id="266" r:id="rId5"/>
    <p:sldId id="260" r:id="rId6"/>
    <p:sldId id="267" r:id="rId7"/>
    <p:sldId id="262" r:id="rId8"/>
    <p:sldId id="268" r:id="rId9"/>
    <p:sldId id="269" r:id="rId10"/>
    <p:sldId id="264" r:id="rId11"/>
    <p:sldId id="265" r:id="rId12"/>
    <p:sldId id="270" r:id="rId13"/>
    <p:sldId id="271" r:id="rId14"/>
    <p:sldId id="272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yla İsmayilova" initials="Kİ" lastIdx="4" clrIdx="0">
    <p:extLst>
      <p:ext uri="{19B8F6BF-5375-455C-9EA6-DF929625EA0E}">
        <p15:presenceInfo xmlns:p15="http://schemas.microsoft.com/office/powerpoint/2012/main" userId="97f28bfaa97aa9e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53" y="78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1-24T02:09:50.121" idx="1">
    <p:pos x="1222" y="1984"/>
    <p:text>yalnış</p:text>
    <p:extLst>
      <p:ext uri="{C676402C-5697-4E1C-873F-D02D1690AC5C}">
        <p15:threadingInfo xmlns:p15="http://schemas.microsoft.com/office/powerpoint/2012/main" timeZoneBias="-18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B5AF15-E329-43F9-B0BC-AB84C5198187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93BDE2-2669-40C3-8810-488542BE76C2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0490516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93BDE2-2669-40C3-8810-488542BE76C2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685763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F1465-06A5-6E54-D5A1-CDCE6D90A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>
            <a:extLst>
              <a:ext uri="{FF2B5EF4-FFF2-40B4-BE49-F238E27FC236}">
                <a16:creationId xmlns:a16="http://schemas.microsoft.com/office/drawing/2014/main" id="{5D088DEC-A5F2-DC8C-D64D-A2A6F5642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>
            <a:extLst>
              <a:ext uri="{FF2B5EF4-FFF2-40B4-BE49-F238E27FC236}">
                <a16:creationId xmlns:a16="http://schemas.microsoft.com/office/drawing/2014/main" id="{4629A630-C557-9EBA-355F-D7AA95023A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84719C49-8A46-CCB9-B527-D78026DDEA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93BDE2-2669-40C3-8810-488542BE76C2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847281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330D3-3D4B-2743-2936-FB9F17A44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>
            <a:extLst>
              <a:ext uri="{FF2B5EF4-FFF2-40B4-BE49-F238E27FC236}">
                <a16:creationId xmlns:a16="http://schemas.microsoft.com/office/drawing/2014/main" id="{B98D43EF-EC44-A2EF-72D7-9FAAC1F8EF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>
            <a:extLst>
              <a:ext uri="{FF2B5EF4-FFF2-40B4-BE49-F238E27FC236}">
                <a16:creationId xmlns:a16="http://schemas.microsoft.com/office/drawing/2014/main" id="{4060DB47-80D6-F708-ABDF-6F8425BA6D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962A4810-4874-3E0E-E471-3D365033AA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93BDE2-2669-40C3-8810-488542BE76C2}" type="slidenum">
              <a:rPr lang="tr-TR" smtClean="0"/>
              <a:t>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8384930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D6146-0AEF-3F55-BC1A-2E24A91DC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>
            <a:extLst>
              <a:ext uri="{FF2B5EF4-FFF2-40B4-BE49-F238E27FC236}">
                <a16:creationId xmlns:a16="http://schemas.microsoft.com/office/drawing/2014/main" id="{A8BB42B8-86DD-23AA-AFF3-24BDD773A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>
            <a:extLst>
              <a:ext uri="{FF2B5EF4-FFF2-40B4-BE49-F238E27FC236}">
                <a16:creationId xmlns:a16="http://schemas.microsoft.com/office/drawing/2014/main" id="{33578BA7-985B-D7BA-2520-415E8BFC8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D1E7F31C-F512-1258-B5E4-4BC34ED018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93BDE2-2669-40C3-8810-488542BE76C2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407416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05669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24637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78632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3629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15084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592756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51482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967079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2149454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Yazılı Panoramik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37662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şlık ve Resim Yazıs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815932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im Yazılı Alınt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692950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İsim Kart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744952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ütu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258913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Resim Sütu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89829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337633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16922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322174-72E9-4CA3-81A2-E0EFD1927849}" type="datetimeFigureOut">
              <a:rPr lang="tr-TR" smtClean="0"/>
              <a:t>24.11.2025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943437-4F33-4044-A8A3-F44C651F8180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1413248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  <p:sldLayoutId id="2147483774" r:id="rId12"/>
    <p:sldLayoutId id="2147483775" r:id="rId13"/>
    <p:sldLayoutId id="2147483776" r:id="rId14"/>
    <p:sldLayoutId id="2147483777" r:id="rId15"/>
    <p:sldLayoutId id="2147483778" r:id="rId16"/>
    <p:sldLayoutId id="214748377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comments" Target="../comments/commen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FC06D46E-B84D-FD44-1C17-B4C8B94BF5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7722" y="329261"/>
            <a:ext cx="8791575" cy="2387600"/>
          </a:xfrm>
        </p:spPr>
        <p:txBody>
          <a:bodyPr>
            <a:normAutofit/>
          </a:bodyPr>
          <a:lstStyle/>
          <a:p>
            <a:pPr algn="ctr"/>
            <a:r>
              <a:rPr lang="tr-TR" dirty="0"/>
              <a:t>SOLID Tasarım Prensipleri Üzerine Akademik Makale İncelemesi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0F40E813-B0F1-5588-DFA9-4BD53D9BCF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16685" y="3743058"/>
            <a:ext cx="6202164" cy="1992579"/>
          </a:xfrm>
        </p:spPr>
        <p:txBody>
          <a:bodyPr>
            <a:normAutofit/>
          </a:bodyPr>
          <a:lstStyle/>
          <a:p>
            <a:r>
              <a:rPr lang="tr-TR" dirty="0"/>
              <a:t>Öğrenci Adı:  </a:t>
            </a:r>
            <a:r>
              <a:rPr lang="tr-TR" dirty="0" err="1"/>
              <a:t>Khayala</a:t>
            </a:r>
            <a:r>
              <a:rPr lang="tr-TR" dirty="0"/>
              <a:t> </a:t>
            </a:r>
            <a:r>
              <a:rPr lang="tr-TR" dirty="0" err="1"/>
              <a:t>Ismayilova</a:t>
            </a:r>
            <a:endParaRPr lang="tr-TR" dirty="0"/>
          </a:p>
          <a:p>
            <a:r>
              <a:rPr lang="tr-TR" dirty="0"/>
              <a:t>Öğrenci Numarası: Y245012159</a:t>
            </a:r>
          </a:p>
          <a:p>
            <a:r>
              <a:rPr lang="tr-TR" dirty="0"/>
              <a:t>Bölüm: Siber Güvenlik</a:t>
            </a:r>
          </a:p>
          <a:p>
            <a:r>
              <a:rPr lang="tr-TR" dirty="0"/>
              <a:t>Ders:  Nesneye Dayalı Programlama</a:t>
            </a:r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863549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FA59D-33A8-E344-5125-CB99AAF7E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Resim 6">
            <a:extLst>
              <a:ext uri="{FF2B5EF4-FFF2-40B4-BE49-F238E27FC236}">
                <a16:creationId xmlns:a16="http://schemas.microsoft.com/office/drawing/2014/main" id="{3B7CC8F8-6BD5-6B22-6284-9CB7266ECD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085" y="3544227"/>
            <a:ext cx="8786981" cy="251563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9" name="Metin kutusu 8">
            <a:extLst>
              <a:ext uri="{FF2B5EF4-FFF2-40B4-BE49-F238E27FC236}">
                <a16:creationId xmlns:a16="http://schemas.microsoft.com/office/drawing/2014/main" id="{C8B688A7-5A19-4840-D778-0825EE5CC199}"/>
              </a:ext>
            </a:extLst>
          </p:cNvPr>
          <p:cNvSpPr txBox="1"/>
          <p:nvPr/>
        </p:nvSpPr>
        <p:spPr>
          <a:xfrm>
            <a:off x="2320988" y="491229"/>
            <a:ext cx="94542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2400" dirty="0"/>
              <a:t>• 	Yazılım geliştirme süreçleri giderek daha karmaşık hale geliyor.</a:t>
            </a:r>
          </a:p>
          <a:p>
            <a:r>
              <a:rPr lang="tr-TR" sz="2400" dirty="0"/>
              <a:t>• 	Nesneye Dayalı Programlama (OOP), bu karmaşıklığı yönetmek için yaygın olarak 	kullanılıyor.</a:t>
            </a:r>
          </a:p>
          <a:p>
            <a:r>
              <a:rPr lang="tr-TR" sz="2400" dirty="0"/>
              <a:t>• 	SOLID prensipleri, </a:t>
            </a:r>
            <a:r>
              <a:rPr lang="tr-TR" sz="2400" dirty="0" err="1"/>
              <a:t>OOP’nin</a:t>
            </a:r>
            <a:r>
              <a:rPr lang="tr-TR" sz="2400" dirty="0"/>
              <a:t> temel yapı taşlarıdır.</a:t>
            </a:r>
          </a:p>
          <a:p>
            <a:r>
              <a:rPr lang="tr-TR" sz="2400" dirty="0"/>
              <a:t>• 	Amaç: Yazılımı daha esnek, sürdürülebilir ve bakım kolaylığı olan hale getirmek.</a:t>
            </a:r>
          </a:p>
        </p:txBody>
      </p:sp>
    </p:spTree>
    <p:extLst>
      <p:ext uri="{BB962C8B-B14F-4D97-AF65-F5344CB8AC3E}">
        <p14:creationId xmlns:p14="http://schemas.microsoft.com/office/powerpoint/2010/main" val="3126662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E54AE-2719-6E43-5A4B-45331E772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5F36E9A-CCEB-99E7-3C31-ADDFD91E9D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tr-TR" b="1" dirty="0"/>
              <a:t>Makale : Solid </a:t>
            </a:r>
            <a:r>
              <a:rPr lang="tr-TR" b="1" dirty="0" err="1"/>
              <a:t>design</a:t>
            </a:r>
            <a:r>
              <a:rPr lang="tr-TR" b="1" dirty="0"/>
              <a:t> </a:t>
            </a:r>
            <a:r>
              <a:rPr lang="tr-TR" b="1" dirty="0" err="1"/>
              <a:t>principles</a:t>
            </a:r>
            <a:r>
              <a:rPr lang="tr-TR" b="1" dirty="0"/>
              <a:t> in software </a:t>
            </a:r>
            <a:r>
              <a:rPr lang="tr-TR" b="1" dirty="0" err="1"/>
              <a:t>engineering</a:t>
            </a:r>
            <a:endParaRPr lang="tr-TR" b="1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CC1810D-4BBA-11FF-73B6-940F44AC1979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Yazar: </a:t>
            </a:r>
            <a:r>
              <a:rPr kumimoji="0" lang="tr-TR" altLang="tr-T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Naveen</a:t>
            </a: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C. 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Yayın: International </a:t>
            </a:r>
            <a:r>
              <a:rPr kumimoji="0" lang="tr-TR" altLang="tr-T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Journal</a:t>
            </a: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of </a:t>
            </a:r>
            <a:r>
              <a:rPr kumimoji="0" lang="tr-TR" altLang="tr-T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Computer</a:t>
            </a: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tr-TR" altLang="tr-T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Trends</a:t>
            </a: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tr-TR" altLang="tr-T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and</a:t>
            </a: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tr-TR" altLang="tr-T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Technology</a:t>
            </a: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(IJCTT), 2024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Amaç: SOLID prensiplerinin yazılım kalitesine ve mimari yapıya katkısını incelemek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tr-TR" altLang="tr-T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6476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74548-F811-293F-F0D6-DB92A3488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499CE107-AA89-4D37-03FF-6E4937F8F09F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892467" y="243512"/>
            <a:ext cx="4781050" cy="6370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tr-TR" altLang="tr-T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Amaç: SOLID prensiplerinin yazılım mimarisindeki rolünü açıklamak</a:t>
            </a:r>
            <a:r>
              <a:rPr lang="tr-TR" altLang="tr-TR" sz="2400" cap="none" dirty="0">
                <a:solidFill>
                  <a:schemeClr val="tx1"/>
                </a:solidFill>
                <a:latin typeface="Arial" panose="020B0604020202020204" pitchFamily="34" charset="0"/>
              </a:rPr>
              <a:t>, y</a:t>
            </a:r>
            <a:r>
              <a:rPr kumimoji="0" lang="tr-TR" altLang="tr-T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azılım kalitesine ve sürdürülebilirliğe katkılarını          değerlendirmek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tr-TR" altLang="tr-T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tr-TR" altLang="tr-T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SOLID prensipleri yazılım geliştirmede hangi sorunları çözer?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lang="tr-TR" altLang="tr-TR" sz="2400" cap="none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tr-TR" altLang="tr-T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 prensipler gerçek dünyada nasıl uygulanmaktadır?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lang="tr-TR" altLang="tr-TR" sz="2400" cap="none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tr-TR" altLang="tr-T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Akademik ve endüstriyel projelerde </a:t>
            </a:r>
            <a:r>
              <a:rPr kumimoji="0" lang="tr-TR" altLang="tr-T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SOLID’in</a:t>
            </a:r>
            <a:r>
              <a:rPr kumimoji="0" lang="tr-TR" altLang="tr-T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etkileri nelerdir?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tr-TR" altLang="tr-T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C3DC9A7-94EB-B623-2856-9B263EB32C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73517" y="1592140"/>
            <a:ext cx="5400295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None/>
              <a:defRPr sz="2000" kern="1200" cap="all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</a:pPr>
            <a:endParaRPr lang="tr-TR" altLang="tr-TR" sz="2400" cap="none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 typeface="Wingdings" panose="05000000000000000000" pitchFamily="2" charset="2"/>
              <a:buChar char="ü"/>
            </a:pPr>
            <a:r>
              <a:rPr lang="tr-TR" altLang="tr-TR" sz="2400" cap="none" dirty="0">
                <a:solidFill>
                  <a:schemeClr val="tx1"/>
                </a:solidFill>
                <a:latin typeface="Arial" panose="020B0604020202020204" pitchFamily="34" charset="0"/>
              </a:rPr>
              <a:t>Kod karmaşıklığını azaltır, bakım maliyetini düşürür, hataları izole etmeyi kolaylaştırır.</a:t>
            </a:r>
          </a:p>
          <a:p>
            <a:pPr marL="34290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 typeface="Wingdings" panose="05000000000000000000" pitchFamily="2" charset="2"/>
              <a:buChar char="ü"/>
            </a:pPr>
            <a:endParaRPr lang="tr-TR" altLang="tr-TR" sz="2400" cap="none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 typeface="Wingdings" panose="05000000000000000000" pitchFamily="2" charset="2"/>
              <a:buChar char="ü"/>
            </a:pPr>
            <a:r>
              <a:rPr lang="tr-TR" altLang="tr-TR" sz="2400" cap="none" dirty="0">
                <a:solidFill>
                  <a:schemeClr val="tx1"/>
                </a:solidFill>
                <a:latin typeface="Arial" panose="020B0604020202020204" pitchFamily="34" charset="0"/>
              </a:rPr>
              <a:t>Büyük ölçekli projelerde modülerlik sağlamak için sınıf ayrımı, arayüz bölme ve bağımlılık enjeksiyonu kullanılır.</a:t>
            </a:r>
          </a:p>
          <a:p>
            <a:pPr marL="34290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 typeface="Wingdings" panose="05000000000000000000" pitchFamily="2" charset="2"/>
              <a:buChar char="ü"/>
            </a:pPr>
            <a:endParaRPr lang="tr-TR" altLang="tr-TR" sz="2400" cap="none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 typeface="Wingdings" panose="05000000000000000000" pitchFamily="2" charset="2"/>
              <a:buChar char="ü"/>
            </a:pPr>
            <a:r>
              <a:rPr lang="tr-TR" altLang="tr-TR" sz="2400" cap="none" dirty="0">
                <a:solidFill>
                  <a:schemeClr val="tx1"/>
                </a:solidFill>
                <a:latin typeface="Arial" panose="020B0604020202020204" pitchFamily="34" charset="0"/>
              </a:rPr>
              <a:t>Akademik projelerde teorik çerçeve sunar; endüstride ise sürdürülebilir, ölçeklenebilir ve test edilebilir yazılım mimarileri oluşturur.</a:t>
            </a:r>
          </a:p>
        </p:txBody>
      </p:sp>
    </p:spTree>
    <p:extLst>
      <p:ext uri="{BB962C8B-B14F-4D97-AF65-F5344CB8AC3E}">
        <p14:creationId xmlns:p14="http://schemas.microsoft.com/office/powerpoint/2010/main" val="5660808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FAD97-D6A1-7FB0-0CA4-5FCAAFC70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etin kutusu 4">
            <a:extLst>
              <a:ext uri="{FF2B5EF4-FFF2-40B4-BE49-F238E27FC236}">
                <a16:creationId xmlns:a16="http://schemas.microsoft.com/office/drawing/2014/main" id="{A8CAE344-9B3E-7C0B-85B7-BD845DBB2C2A}"/>
              </a:ext>
            </a:extLst>
          </p:cNvPr>
          <p:cNvSpPr txBox="1"/>
          <p:nvPr/>
        </p:nvSpPr>
        <p:spPr>
          <a:xfrm>
            <a:off x="2309560" y="197346"/>
            <a:ext cx="9754103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SRP (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Single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Responsibility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Principle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Tek sorumluluk prensibi.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endParaRPr lang="tr-TR" altLang="tr-TR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alt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Her sınıf yalnızca tek bir sorumluluk üstlenmelidir. </a:t>
            </a:r>
            <a:r>
              <a:rPr lang="tr-TR" alt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Burdaki</a:t>
            </a:r>
            <a:r>
              <a:rPr lang="tr-TR" alt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amaç kodun karmaşıklığını azaltmak, bakım ve test kolaylığı sağlamak. SRP, yazılımın modülerliğini artırır ve hata izolasyonunu kolaylaştırır.</a:t>
            </a:r>
            <a:endParaRPr lang="tr-TR" sz="3600" dirty="0"/>
          </a:p>
        </p:txBody>
      </p:sp>
      <p:pic>
        <p:nvPicPr>
          <p:cNvPr id="23" name="Resim 22">
            <a:extLst>
              <a:ext uri="{FF2B5EF4-FFF2-40B4-BE49-F238E27FC236}">
                <a16:creationId xmlns:a16="http://schemas.microsoft.com/office/drawing/2014/main" id="{1E5FC12F-A4F3-F177-BA5C-0CF533BBA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9560" y="3051110"/>
            <a:ext cx="4766388" cy="3609544"/>
          </a:xfrm>
          <a:prstGeom prst="rect">
            <a:avLst/>
          </a:prstGeom>
        </p:spPr>
      </p:pic>
      <p:pic>
        <p:nvPicPr>
          <p:cNvPr id="27" name="Resim 26">
            <a:extLst>
              <a:ext uri="{FF2B5EF4-FFF2-40B4-BE49-F238E27FC236}">
                <a16:creationId xmlns:a16="http://schemas.microsoft.com/office/drawing/2014/main" id="{4398B062-7E47-A1D9-0DE1-1FFD859134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6610" y="3076510"/>
            <a:ext cx="4845275" cy="3609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1531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04001-F976-D9B8-655C-C09156675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etin kutusu 4">
            <a:extLst>
              <a:ext uri="{FF2B5EF4-FFF2-40B4-BE49-F238E27FC236}">
                <a16:creationId xmlns:a16="http://schemas.microsoft.com/office/drawing/2014/main" id="{E389B123-7E19-4E63-1AFC-AD9CD150E7BC}"/>
              </a:ext>
            </a:extLst>
          </p:cNvPr>
          <p:cNvSpPr txBox="1"/>
          <p:nvPr/>
        </p:nvSpPr>
        <p:spPr>
          <a:xfrm>
            <a:off x="2309560" y="197346"/>
            <a:ext cx="9754103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OCP (Open/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Closed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Principle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Açık/ Kapalı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Prensipi</a:t>
            </a:r>
            <a:endParaRPr lang="tr-TR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Sınıflar geliştirmeye açık, değişikliğe kapalı olmalıdır. Amaç yeni kod yani özellik eklerken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mevcüt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kodu değiştirmeden genişletmek.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OCP, yazılımın esnekliğini artırır ve hata riskini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aaltır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Örn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: Yeni ödeme yöntemleri eklemek için mevcut sınıfları değiştirmek yerine yeni sınıf eklenir.</a:t>
            </a:r>
            <a:endParaRPr lang="tr-TR" sz="3600" dirty="0"/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id="{C7FFFA82-DB56-1BF7-15B5-47079595BB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7896" y="3305889"/>
            <a:ext cx="8935957" cy="326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029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F33D5-81A3-63DA-6FB1-EBA598E8B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>
            <a:extLst>
              <a:ext uri="{FF2B5EF4-FFF2-40B4-BE49-F238E27FC236}">
                <a16:creationId xmlns:a16="http://schemas.microsoft.com/office/drawing/2014/main" id="{528DE853-1C4C-ED9C-AB82-D94064B464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303" y="325353"/>
            <a:ext cx="9384633" cy="605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87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F1593-5983-4DD3-8628-810530AFC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etin kutusu 4">
            <a:extLst>
              <a:ext uri="{FF2B5EF4-FFF2-40B4-BE49-F238E27FC236}">
                <a16:creationId xmlns:a16="http://schemas.microsoft.com/office/drawing/2014/main" id="{078CC731-3B91-932F-6EDE-558781847FFA}"/>
              </a:ext>
            </a:extLst>
          </p:cNvPr>
          <p:cNvSpPr txBox="1"/>
          <p:nvPr/>
        </p:nvSpPr>
        <p:spPr>
          <a:xfrm>
            <a:off x="1684409" y="0"/>
            <a:ext cx="10507591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3000" dirty="0"/>
              <a:t>LSP (</a:t>
            </a:r>
            <a:r>
              <a:rPr lang="tr-TR" sz="3000" dirty="0" err="1"/>
              <a:t>Liskov</a:t>
            </a:r>
            <a:r>
              <a:rPr lang="tr-TR" sz="3000" dirty="0"/>
              <a:t> </a:t>
            </a:r>
            <a:r>
              <a:rPr lang="tr-TR" sz="3000" dirty="0" err="1"/>
              <a:t>Substitution</a:t>
            </a:r>
            <a:r>
              <a:rPr lang="tr-TR" sz="3000" dirty="0"/>
              <a:t> </a:t>
            </a:r>
            <a:r>
              <a:rPr lang="tr-TR" sz="3000" dirty="0" err="1"/>
              <a:t>Principle</a:t>
            </a:r>
            <a:r>
              <a:rPr lang="tr-TR" sz="3000" dirty="0"/>
              <a:t>)— </a:t>
            </a:r>
            <a:r>
              <a:rPr lang="tr-TR" sz="3000" dirty="0" err="1"/>
              <a:t>Liskov</a:t>
            </a:r>
            <a:r>
              <a:rPr lang="tr-TR" sz="3000" dirty="0"/>
              <a:t> Yerine Geçme Prensibi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endParaRPr lang="tr-TR" sz="3000" dirty="0"/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3000" dirty="0"/>
              <a:t>Alt sınıflar, üst sınıfların yerine geçebilmelidir. </a:t>
            </a:r>
            <a:r>
              <a:rPr lang="tr-TR" sz="3000" dirty="0" err="1"/>
              <a:t>Burdaki</a:t>
            </a:r>
            <a:r>
              <a:rPr lang="tr-TR" sz="3000" dirty="0"/>
              <a:t> amaç kodun tutarlılığını korumak, beklenmedik davranışları önlemek. LSP, nesne hiyerarşilerinde güvenilirliği artırır. 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3000" dirty="0" err="1"/>
              <a:t>Örn</a:t>
            </a:r>
            <a:r>
              <a:rPr lang="tr-TR" sz="3000" dirty="0"/>
              <a:t>: Bir «Kuş» sınıfı yerine «Serçe» veya «Güvercin» kullanılabilmeli.</a:t>
            </a:r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86E29571-96E4-2C1B-524C-87642D646F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3219" y="2827175"/>
            <a:ext cx="5468781" cy="3956963"/>
          </a:xfrm>
          <a:prstGeom prst="rect">
            <a:avLst/>
          </a:prstGeom>
        </p:spPr>
      </p:pic>
      <p:pic>
        <p:nvPicPr>
          <p:cNvPr id="9" name="Resim 8">
            <a:extLst>
              <a:ext uri="{FF2B5EF4-FFF2-40B4-BE49-F238E27FC236}">
                <a16:creationId xmlns:a16="http://schemas.microsoft.com/office/drawing/2014/main" id="{15AECD1B-DFBE-D87D-82CE-D49CB90933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9706" y="4030824"/>
            <a:ext cx="5573513" cy="2753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3771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A2C87-CE0E-0E85-2523-411BC6451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etin kutusu 4">
            <a:extLst>
              <a:ext uri="{FF2B5EF4-FFF2-40B4-BE49-F238E27FC236}">
                <a16:creationId xmlns:a16="http://schemas.microsoft.com/office/drawing/2014/main" id="{F808D067-71FE-A484-DF4A-3A9742029130}"/>
              </a:ext>
            </a:extLst>
          </p:cNvPr>
          <p:cNvSpPr txBox="1"/>
          <p:nvPr/>
        </p:nvSpPr>
        <p:spPr>
          <a:xfrm>
            <a:off x="1982989" y="1345011"/>
            <a:ext cx="9754103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ISP (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Interface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Segregation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Principle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tr-TR" sz="2800" dirty="0"/>
              <a:t>— Arayüz Ayrımı Prensibi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Büyük ve genel arayüzler yerine, küçük ve özelleşmiş arayüzler kullanılmalıdır.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Burdaki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amaç, gereksiz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metodları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uygulama zorunluluğunu ortadan kaldırmak.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ISP, sınıfların yalnızca ihtiyaç duydukları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metodları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kullanmasını sağlar.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Örn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Bir «Makine» arayüzü yerine «Yazıcı», «Tarayıcı»  gibi ayrı arayüzler tanımlamak.</a:t>
            </a:r>
          </a:p>
        </p:txBody>
      </p:sp>
    </p:spTree>
    <p:extLst>
      <p:ext uri="{BB962C8B-B14F-4D97-AF65-F5344CB8AC3E}">
        <p14:creationId xmlns:p14="http://schemas.microsoft.com/office/powerpoint/2010/main" val="12530948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8C047-6B4C-874F-7B7F-12C258BC1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>
            <a:extLst>
              <a:ext uri="{FF2B5EF4-FFF2-40B4-BE49-F238E27FC236}">
                <a16:creationId xmlns:a16="http://schemas.microsoft.com/office/drawing/2014/main" id="{8B44AB81-F547-D139-C412-8FDB0A31B0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18" y="576262"/>
            <a:ext cx="5829300" cy="5705475"/>
          </a:xfrm>
          <a:prstGeom prst="rect">
            <a:avLst/>
          </a:prstGeom>
        </p:spPr>
      </p:pic>
      <p:pic>
        <p:nvPicPr>
          <p:cNvPr id="7" name="Resim 6">
            <a:extLst>
              <a:ext uri="{FF2B5EF4-FFF2-40B4-BE49-F238E27FC236}">
                <a16:creationId xmlns:a16="http://schemas.microsoft.com/office/drawing/2014/main" id="{8E8063CE-CCA1-D3B1-CB04-89E6C16C79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980" y="576262"/>
            <a:ext cx="5667375" cy="570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1752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B700A-3CC8-2DA0-5DFA-C1AE0E402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EAAC7F53-95FF-5A24-57BA-50E646926880}"/>
              </a:ext>
            </a:extLst>
          </p:cNvPr>
          <p:cNvSpPr txBox="1"/>
          <p:nvPr/>
        </p:nvSpPr>
        <p:spPr>
          <a:xfrm>
            <a:off x="1982989" y="1345011"/>
            <a:ext cx="9754103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DIP (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Dependency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Inversion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Principle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— Bağımlılıkların Ters Çevrilmesi Prensibi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Bağımlılıkları soyutlamalar üzerinden yönetmek, esnekliği artırmak. DIP, modüller arası bağımlılığı azaltır ve test edilebilirliği kolaylaştırır.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Örn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Bir «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NotificationService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», doğrudan «</a:t>
            </a:r>
            <a:r>
              <a:rPr lang="tr-T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EmailSender</a:t>
            </a:r>
            <a:r>
              <a:rPr lang="tr-T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»’a bağlı olmamalı; bunun yerine bir arayüz üzerinden çalışmalı.</a:t>
            </a:r>
          </a:p>
        </p:txBody>
      </p:sp>
    </p:spTree>
    <p:extLst>
      <p:ext uri="{BB962C8B-B14F-4D97-AF65-F5344CB8AC3E}">
        <p14:creationId xmlns:p14="http://schemas.microsoft.com/office/powerpoint/2010/main" val="34663244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F6B37-7407-C139-7538-64CF56EE9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Resim 2">
            <a:extLst>
              <a:ext uri="{FF2B5EF4-FFF2-40B4-BE49-F238E27FC236}">
                <a16:creationId xmlns:a16="http://schemas.microsoft.com/office/drawing/2014/main" id="{ABA8B743-F31A-C8D9-09A8-6CDAD681EA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49817"/>
            <a:ext cx="5793204" cy="3533775"/>
          </a:xfrm>
          <a:prstGeom prst="rect">
            <a:avLst/>
          </a:prstGeom>
        </p:spPr>
      </p:pic>
      <p:pic>
        <p:nvPicPr>
          <p:cNvPr id="6" name="Resim 5">
            <a:extLst>
              <a:ext uri="{FF2B5EF4-FFF2-40B4-BE49-F238E27FC236}">
                <a16:creationId xmlns:a16="http://schemas.microsoft.com/office/drawing/2014/main" id="{644FA96B-F227-55E4-BC2A-484FF73DC4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0725" y="28575"/>
            <a:ext cx="6391275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6003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C9FDEDE-CBFD-7FF8-9FC4-24C5D22E3B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304800"/>
            <a:ext cx="9905999" cy="5999747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tr-TR" sz="5200" b="1" dirty="0"/>
              <a:t>Kaynaklar</a:t>
            </a:r>
          </a:p>
          <a:p>
            <a:pPr marL="0" indent="0" algn="just">
              <a:buNone/>
            </a:pPr>
            <a:r>
              <a:rPr lang="tr-TR" sz="3400" dirty="0"/>
              <a:t>- </a:t>
            </a:r>
            <a:r>
              <a:rPr lang="tr-TR" sz="3400" dirty="0" err="1"/>
              <a:t>Naveen</a:t>
            </a:r>
            <a:r>
              <a:rPr lang="tr-TR" sz="3400" dirty="0"/>
              <a:t> C. R., “SOLID Design </a:t>
            </a:r>
            <a:r>
              <a:rPr lang="tr-TR" sz="3400" dirty="0" err="1"/>
              <a:t>Principles</a:t>
            </a:r>
            <a:r>
              <a:rPr lang="tr-TR" sz="3400" dirty="0"/>
              <a:t> in Software </a:t>
            </a:r>
            <a:r>
              <a:rPr lang="tr-TR" sz="3400" dirty="0" err="1"/>
              <a:t>Engineering</a:t>
            </a:r>
            <a:r>
              <a:rPr lang="tr-TR" sz="3400" dirty="0"/>
              <a:t>”, IJCTT, 2024</a:t>
            </a:r>
          </a:p>
          <a:p>
            <a:pPr marL="0" indent="0" algn="just">
              <a:buNone/>
            </a:pPr>
            <a:r>
              <a:rPr lang="tr-TR" sz="3400" dirty="0"/>
              <a:t>- Robert C. Martin, Agile Software Development: </a:t>
            </a:r>
            <a:r>
              <a:rPr lang="tr-TR" sz="3400" dirty="0" err="1"/>
              <a:t>Principles</a:t>
            </a:r>
            <a:r>
              <a:rPr lang="tr-TR" sz="3400" dirty="0"/>
              <a:t>, </a:t>
            </a:r>
            <a:r>
              <a:rPr lang="tr-TR" sz="3400" dirty="0" err="1"/>
              <a:t>Patterns</a:t>
            </a:r>
            <a:r>
              <a:rPr lang="tr-TR" sz="3400" dirty="0"/>
              <a:t>, </a:t>
            </a:r>
            <a:r>
              <a:rPr lang="tr-TR" sz="3400" dirty="0" err="1"/>
              <a:t>and</a:t>
            </a:r>
            <a:r>
              <a:rPr lang="tr-TR" sz="3400" dirty="0"/>
              <a:t> </a:t>
            </a:r>
            <a:r>
              <a:rPr lang="tr-TR" sz="3400" dirty="0" err="1"/>
              <a:t>Practices</a:t>
            </a:r>
            <a:r>
              <a:rPr lang="tr-TR" sz="3400" dirty="0"/>
              <a:t>, </a:t>
            </a:r>
            <a:r>
              <a:rPr lang="tr-TR" sz="3400" dirty="0" err="1"/>
              <a:t>Prentice</a:t>
            </a:r>
            <a:r>
              <a:rPr lang="tr-TR" sz="3400" dirty="0"/>
              <a:t> </a:t>
            </a:r>
            <a:r>
              <a:rPr lang="tr-TR" sz="3400" dirty="0" err="1"/>
              <a:t>Hall</a:t>
            </a:r>
            <a:r>
              <a:rPr lang="tr-TR" sz="3400" dirty="0"/>
              <a:t>, 2002</a:t>
            </a:r>
          </a:p>
          <a:p>
            <a:pPr marL="0" indent="0" algn="just">
              <a:buNone/>
            </a:pPr>
            <a:r>
              <a:rPr lang="tr-TR" sz="3400" dirty="0"/>
              <a:t>- </a:t>
            </a:r>
            <a:r>
              <a:rPr lang="tr-TR" sz="3400" dirty="0" err="1"/>
              <a:t>Sandi</a:t>
            </a:r>
            <a:r>
              <a:rPr lang="tr-TR" sz="3400" dirty="0"/>
              <a:t> </a:t>
            </a:r>
            <a:r>
              <a:rPr lang="tr-TR" sz="3400" dirty="0" err="1"/>
              <a:t>Metz</a:t>
            </a:r>
            <a:r>
              <a:rPr lang="tr-TR" sz="3400" dirty="0"/>
              <a:t>, </a:t>
            </a:r>
            <a:r>
              <a:rPr lang="tr-TR" sz="3400" dirty="0" err="1"/>
              <a:t>Practical</a:t>
            </a:r>
            <a:r>
              <a:rPr lang="tr-TR" sz="3400" dirty="0"/>
              <a:t> Object-</a:t>
            </a:r>
            <a:r>
              <a:rPr lang="tr-TR" sz="3400" dirty="0" err="1"/>
              <a:t>Oriented</a:t>
            </a:r>
            <a:r>
              <a:rPr lang="tr-TR" sz="3400" dirty="0"/>
              <a:t> Design in Ruby, </a:t>
            </a:r>
            <a:r>
              <a:rPr lang="tr-TR" sz="3400" dirty="0" err="1"/>
              <a:t>Addison</a:t>
            </a:r>
            <a:r>
              <a:rPr lang="tr-TR" sz="3400" dirty="0"/>
              <a:t>-Wesley, 2012</a:t>
            </a:r>
          </a:p>
          <a:p>
            <a:pPr marL="0" indent="0" algn="just">
              <a:buNone/>
            </a:pPr>
            <a:r>
              <a:rPr lang="tr-TR" sz="3400" dirty="0"/>
              <a:t>- Akademik ders notları ve yazılım mühendisliği makaleleri</a:t>
            </a:r>
          </a:p>
        </p:txBody>
      </p:sp>
    </p:spTree>
    <p:extLst>
      <p:ext uri="{BB962C8B-B14F-4D97-AF65-F5344CB8AC3E}">
        <p14:creationId xmlns:p14="http://schemas.microsoft.com/office/powerpoint/2010/main" val="505862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İçerik Yer Tutucusu 2">
            <a:extLst>
              <a:ext uri="{FF2B5EF4-FFF2-40B4-BE49-F238E27FC236}">
                <a16:creationId xmlns:a16="http://schemas.microsoft.com/office/drawing/2014/main" id="{C0EA5ED6-EFE2-F47B-76FF-682E9E7E454E}"/>
              </a:ext>
            </a:extLst>
          </p:cNvPr>
          <p:cNvSpPr txBox="1">
            <a:spLocks/>
          </p:cNvSpPr>
          <p:nvPr/>
        </p:nvSpPr>
        <p:spPr>
          <a:xfrm>
            <a:off x="1141412" y="304800"/>
            <a:ext cx="9905999" cy="5999747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tr-TR" sz="5200" b="1" dirty="0"/>
              <a:t>Sonuç ve Değerlendirme</a:t>
            </a:r>
          </a:p>
          <a:p>
            <a:pPr marL="0" indent="0" algn="just">
              <a:buFont typeface="Arial" panose="020B0604020202020204" pitchFamily="34" charset="0"/>
              <a:buNone/>
            </a:pPr>
            <a:r>
              <a:rPr lang="tr-TR" sz="3400" dirty="0"/>
              <a:t>• 	SOLID prensipleri yazılım geliştirmede modülerlik, esneklik ve sürdürülebilirlik sağlar.</a:t>
            </a:r>
          </a:p>
          <a:p>
            <a:pPr marL="0" indent="0" algn="just">
              <a:buFont typeface="Arial" panose="020B0604020202020204" pitchFamily="34" charset="0"/>
              <a:buNone/>
            </a:pPr>
            <a:r>
              <a:rPr lang="tr-TR" sz="3400" dirty="0"/>
              <a:t>• 	Her prensip farklı bir sorunu çözer; birlikte kullanıldığında güçlü bir mimari oluşturur.</a:t>
            </a:r>
          </a:p>
          <a:p>
            <a:pPr marL="0" indent="0" algn="just">
              <a:buFont typeface="Arial" panose="020B0604020202020204" pitchFamily="34" charset="0"/>
              <a:buNone/>
            </a:pPr>
            <a:r>
              <a:rPr lang="tr-TR" sz="3400" dirty="0"/>
              <a:t>• 	Akademik açıdan: Yazılım kalitesini artıran teorik bir çerçeve sunar.</a:t>
            </a:r>
          </a:p>
          <a:p>
            <a:pPr marL="0" indent="0" algn="just">
              <a:buFont typeface="Arial" panose="020B0604020202020204" pitchFamily="34" charset="0"/>
              <a:buNone/>
            </a:pPr>
            <a:r>
              <a:rPr lang="tr-TR" sz="3400" dirty="0"/>
              <a:t>• 	Endüstriyel açıdan: Büyük ölçekli projelerde bakım maliyetini düşürür, test edilebilirliği kolaylaştırır.</a:t>
            </a:r>
          </a:p>
          <a:p>
            <a:pPr marL="0" indent="0" algn="just">
              <a:buFont typeface="Arial" panose="020B0604020202020204" pitchFamily="34" charset="0"/>
              <a:buNone/>
            </a:pPr>
            <a:r>
              <a:rPr lang="tr-TR" sz="3400" dirty="0"/>
              <a:t>• 	Genel Değerlendirme: SOLID prensipleri, modern yazılım mühendisliğinde vazgeçilmez bir rehberdir.</a:t>
            </a:r>
          </a:p>
        </p:txBody>
      </p:sp>
    </p:spTree>
    <p:extLst>
      <p:ext uri="{BB962C8B-B14F-4D97-AF65-F5344CB8AC3E}">
        <p14:creationId xmlns:p14="http://schemas.microsoft.com/office/powerpoint/2010/main" val="357278406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evre">
  <a:themeElements>
    <a:clrScheme name="Devre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Devre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v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TM04033919[[fn=Devre]]</Template>
  <TotalTime>296</TotalTime>
  <Words>603</Words>
  <Application>Microsoft Office PowerPoint</Application>
  <PresentationFormat>Geniş ekran</PresentationFormat>
  <Paragraphs>59</Paragraphs>
  <Slides>14</Slides>
  <Notes>4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5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14</vt:i4>
      </vt:variant>
    </vt:vector>
  </HeadingPairs>
  <TitlesOfParts>
    <vt:vector size="20" baseType="lpstr">
      <vt:lpstr>Arial</vt:lpstr>
      <vt:lpstr>Calibri</vt:lpstr>
      <vt:lpstr>Times New Roman</vt:lpstr>
      <vt:lpstr>Tw Cen MT</vt:lpstr>
      <vt:lpstr>Wingdings</vt:lpstr>
      <vt:lpstr>Devre</vt:lpstr>
      <vt:lpstr>SOLID Tasarım Prensipleri Üzerine Akademik Makale İncelemesi</vt:lpstr>
      <vt:lpstr>PowerPoint Sunusu</vt:lpstr>
      <vt:lpstr>Makale : Solid design principles in software engineering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Kayla İsmayilova</dc:creator>
  <cp:lastModifiedBy>Kayla İsmayilova</cp:lastModifiedBy>
  <cp:revision>10</cp:revision>
  <dcterms:created xsi:type="dcterms:W3CDTF">2025-11-20T20:04:15Z</dcterms:created>
  <dcterms:modified xsi:type="dcterms:W3CDTF">2025-11-24T02:01:54Z</dcterms:modified>
</cp:coreProperties>
</file>